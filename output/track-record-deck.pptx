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813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1887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INVESTMENT FRAMEWORK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4048" y="62179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repeatable sources of variant perception — applied prospectively to idea generation and position conviction.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84048" y="1124712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L/S equity  ·  Primary research-driven  ·  Trium Capital 2025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20040" y="1627632"/>
            <a:ext cx="8503920" cy="891540"/>
          </a:xfrm>
          <a:prstGeom prst="rect">
            <a:avLst/>
          </a:prstGeom>
          <a:solidFill>
            <a:srgbClr val="F7F8FA"/>
          </a:solidFill>
          <a:ln w="9525">
            <a:solidFill>
              <a:srgbClr val="E2E5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627632"/>
            <a:ext cx="50292" cy="8915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700784"/>
            <a:ext cx="530352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C9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96696" y="1755648"/>
            <a:ext cx="0" cy="635508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8136" y="17190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RE-RATING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88136" y="2011680"/>
            <a:ext cx="5120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market applies a cyclical lens to a durably improved business — creating a persistent mispricing in earnings power. Conviction built through primary research on competitive structure and supply/demand rationalization: is the improvement structural or temporary?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086600" y="1890522"/>
            <a:ext cx="141732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86600" y="189052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 WDC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624328"/>
            <a:ext cx="8503920" cy="891540"/>
          </a:xfrm>
          <a:prstGeom prst="rect">
            <a:avLst/>
          </a:prstGeom>
          <a:solidFill>
            <a:srgbClr val="F7F8FA"/>
          </a:solidFill>
          <a:ln w="9525">
            <a:solidFill>
              <a:srgbClr val="E2E5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624328"/>
            <a:ext cx="50292" cy="8915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697480"/>
            <a:ext cx="530352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C9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996696" y="2752344"/>
            <a:ext cx="0" cy="635508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88136" y="27157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M&amp;A VALUE CREATION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88136" y="3008376"/>
            <a:ext cx="5120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proven serial acquirer's next deal is discounted for size or complexity — and the market fails to underwrite synergy-adjusted normalized earnings with a PE lens. Focus on integration track record and post-deal earning capacity, not near-term execution noise.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086600" y="2887218"/>
            <a:ext cx="141732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86600" y="288721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 DSV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621024"/>
            <a:ext cx="8503920" cy="891540"/>
          </a:xfrm>
          <a:prstGeom prst="rect">
            <a:avLst/>
          </a:prstGeom>
          <a:solidFill>
            <a:srgbClr val="F7F8FA"/>
          </a:solidFill>
          <a:ln w="9525">
            <a:solidFill>
              <a:srgbClr val="E2E5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621024"/>
            <a:ext cx="50292" cy="8915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694176"/>
            <a:ext cx="530352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C9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2600" dirty="0"/>
          </a:p>
        </p:txBody>
      </p:sp>
      <p:sp>
        <p:nvSpPr>
          <p:cNvPr id="25" name="Shape 23"/>
          <p:cNvSpPr/>
          <p:nvPr/>
        </p:nvSpPr>
        <p:spPr>
          <a:xfrm>
            <a:off x="996696" y="3749040"/>
            <a:ext cx="0" cy="635508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88136" y="371246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UNDERCOVERED TRANSFORMATION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88136" y="4005072"/>
            <a:ext cx="5120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material change in asset quality is invisible due to seller identity, company size, or coverage gaps — creating a valuation lag that fundamental work identifies ahead of consensus. Edge comes from doing the work the market is not doing.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086600" y="3883914"/>
            <a:ext cx="141732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86600" y="388391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 SigmaRoc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4594860"/>
            <a:ext cx="850392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465886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prospectively to idea generation at Trium Capital — three 2025 situations on the following page.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EDEFF2"/>
          </a:solidFill>
          <a:ln w="12700">
            <a:solidFill>
              <a:srgbClr val="EDE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901184"/>
            <a:ext cx="9144000" cy="0"/>
          </a:xfrm>
          <a:prstGeom prst="line">
            <a:avLst/>
          </a:prstGeom>
          <a:noFill/>
          <a:ln w="6350">
            <a:solidFill>
              <a:srgbClr val="C4CA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910328"/>
            <a:ext cx="8412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developed through IB, PE, and L/S equity experience  ·  Each principle generates testable, forward-looking theses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813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1887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SELECTED INVESTMENT IDEAS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4048" y="62179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situations where primary research built conviction on structural durability — ahead of, or through, the market dislocation.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84048" y="1124712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Trium Capital  ·  2025  ·  Equal-weighted long ideas  ·  Selected from analyst idea tracker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24612" y="1627632"/>
            <a:ext cx="2770632" cy="3182112"/>
          </a:xfrm>
          <a:prstGeom prst="rect">
            <a:avLst/>
          </a:prstGeom>
          <a:solidFill>
            <a:srgbClr val="F7F8FA"/>
          </a:solidFill>
          <a:ln w="9525">
            <a:solidFill>
              <a:srgbClr val="E2E5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4612" y="1627632"/>
            <a:ext cx="50292" cy="31821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" y="1709928"/>
            <a:ext cx="25877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WDC — Western Digital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2628" y="2011680"/>
            <a:ext cx="13456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7A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~+290%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850014" y="2011680"/>
            <a:ext cx="11903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Jan–Jan 2025/26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trim ~+150% Oct '25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52628" y="2414016"/>
            <a:ext cx="2587752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" y="2468880"/>
            <a:ext cx="25877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52628" y="2642616"/>
            <a:ext cx="2587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as a low-quality cyclical memory name. HDD improvement not believed. Near-term NAND weakness dominated investor framing.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2628" y="3374136"/>
            <a:ext cx="25877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VIEW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52628" y="3547872"/>
            <a:ext cx="2587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HDD structurally transformed into a rational duopoly — structural re-rating thesis, not cyclical bounce. Spinoff unlocking embedded value.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2628" y="4288536"/>
            <a:ext cx="2587752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" y="4343400"/>
            <a:ext cx="2587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strongest when a cyclical market framing obscures an unrecognized structural change underneath.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27832" y="1627632"/>
            <a:ext cx="2770632" cy="3182112"/>
          </a:xfrm>
          <a:prstGeom prst="rect">
            <a:avLst/>
          </a:prstGeom>
          <a:solidFill>
            <a:srgbClr val="F7F8FA"/>
          </a:solidFill>
          <a:ln w="9525">
            <a:solidFill>
              <a:srgbClr val="E2E5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27832" y="1627632"/>
            <a:ext cx="50292" cy="31821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55848" y="1709928"/>
            <a:ext cx="25877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DSV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355848" y="2011680"/>
            <a:ext cx="13456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7A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~+43%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753234" y="2011680"/>
            <a:ext cx="11903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Apr–Jan 2025/26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post-Liberation Day selloff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355848" y="2414016"/>
            <a:ext cx="2587752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55848" y="2468880"/>
            <a:ext cx="25877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355848" y="2642616"/>
            <a:ext cx="2587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Schenker deal seen as strategically sound but complex. Market applied conservative pre-synergy framework amid macro freight fear.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355848" y="3374136"/>
            <a:ext cx="25877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VIEW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355848" y="3547872"/>
            <a:ext cx="2587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underestimating synergies. Underwrote Schenker with a PE lens on normalized earnings power — not near-term freight cycle noise.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355848" y="4288536"/>
            <a:ext cx="2587752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55848" y="4343400"/>
            <a:ext cx="2587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adds most value underwriting public M&amp;A with a PE lens, forcing focus on normalized earnings over execution fear.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131052" y="1627632"/>
            <a:ext cx="2770632" cy="3182112"/>
          </a:xfrm>
          <a:prstGeom prst="rect">
            <a:avLst/>
          </a:prstGeom>
          <a:solidFill>
            <a:srgbClr val="F7F8FA"/>
          </a:solidFill>
          <a:ln w="9525">
            <a:solidFill>
              <a:srgbClr val="E2E5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31052" y="1627632"/>
            <a:ext cx="50292" cy="31821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59068" y="1709928"/>
            <a:ext cx="25877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SigmaRoc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259068" y="2011680"/>
            <a:ext cx="13456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7A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~+77%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656454" y="2011680"/>
            <a:ext cx="11903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Jan–Jan 2025/26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complete, exited cleanly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259068" y="2414016"/>
            <a:ext cx="2587752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59068" y="2468880"/>
            <a:ext cx="25877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259068" y="2642616"/>
            <a:ext cx="2587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Small-cap building materials; limited coverage; cyclical discount. CRH lime acquisition transformation not appreciated by market.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259068" y="3374136"/>
            <a:ext cx="25877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VIEW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259068" y="3547872"/>
            <a:ext cx="2587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CRH lime deal materially changed the asset quality profile. Undercovered compounder with a significant valuation gap to US peers.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259068" y="4288536"/>
            <a:ext cx="2587752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59068" y="4343400"/>
            <a:ext cx="2587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Differentiated in undercovered names where the label is stale and the business has already changed before the market caught up.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EDEFF2"/>
          </a:solidFill>
          <a:ln w="12700">
            <a:solidFill>
              <a:srgbClr val="EDE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4901184"/>
            <a:ext cx="9144000" cy="0"/>
          </a:xfrm>
          <a:prstGeom prst="line">
            <a:avLst/>
          </a:prstGeom>
          <a:noFill/>
          <a:ln w="6350">
            <a:solidFill>
              <a:srgbClr val="C4CAD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4910328"/>
            <a:ext cx="8412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Idea-level returns, not audited fund performance.  ·  S&amp;P 500 +17.9% in 2025 for reference.  ·  Ideas tracked at Trium Capital.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Investment Framework &amp; Selected Ideas</dc:title>
  <dc:subject>PptxGenJS Presentation</dc:subject>
  <dc:creator>PptxGenJS</dc:creator>
  <cp:lastModifiedBy>PptxGenJS</cp:lastModifiedBy>
  <cp:revision>1</cp:revision>
  <dcterms:created xsi:type="dcterms:W3CDTF">2026-04-04T19:28:50Z</dcterms:created>
  <dcterms:modified xsi:type="dcterms:W3CDTF">2026-04-04T19:28:50Z</dcterms:modified>
</cp:coreProperties>
</file>